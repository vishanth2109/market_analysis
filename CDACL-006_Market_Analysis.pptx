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9.xml" ContentType="application/vnd.openxmlformats-officedocument.drawingml.chart+xml"/>
  <Override PartName="/ppt/notesSlides/notesSlide16.xml" ContentType="application/vnd.openxmlformats-officedocument.presentationml.notesSlide+xml"/>
  <Override PartName="/ppt/charts/chart10.xml" ContentType="application/vnd.openxmlformats-officedocument.drawingml.chart+xml"/>
  <Override PartName="/ppt/notesSlides/notesSlide17.xml" ContentType="application/vnd.openxmlformats-officedocument.presentationml.notesSlide+xml"/>
  <Override PartName="/ppt/charts/chart1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74C69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B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vitamins supplements</c:v>
                </c:pt>
                <c:pt idx="1">
                  <c:v>candy chocolate</c:v>
                </c:pt>
                <c:pt idx="2">
                  <c:v>tea</c:v>
                </c:pt>
                <c:pt idx="3">
                  <c:v>chips pretzels</c:v>
                </c:pt>
                <c:pt idx="4">
                  <c:v>frozen meals</c:v>
                </c:pt>
                <c:pt idx="5">
                  <c:v>energy granola bars</c:v>
                </c:pt>
                <c:pt idx="6">
                  <c:v>cleaning products</c:v>
                </c:pt>
                <c:pt idx="7">
                  <c:v>hair care</c:v>
                </c:pt>
                <c:pt idx="8">
                  <c:v>ice cream ice</c:v>
                </c:pt>
                <c:pt idx="9">
                  <c:v>yogurt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31</c:v>
                </c:pt>
                <c:pt idx="1">
                  <c:v>23</c:v>
                </c:pt>
                <c:pt idx="2">
                  <c:v>23</c:v>
                </c:pt>
                <c:pt idx="3">
                  <c:v>22</c:v>
                </c:pt>
                <c:pt idx="4">
                  <c:v>22</c:v>
                </c:pt>
                <c:pt idx="5">
                  <c:v>21</c:v>
                </c:pt>
                <c:pt idx="6">
                  <c:v>19</c:v>
                </c:pt>
                <c:pt idx="7">
                  <c:v>19</c:v>
                </c:pt>
                <c:pt idx="8">
                  <c:v>19</c:v>
                </c:pt>
                <c:pt idx="9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A8-4387-9778-446C7E8768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B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personal care</c:v>
                </c:pt>
                <c:pt idx="1">
                  <c:v>snacks</c:v>
                </c:pt>
                <c:pt idx="2">
                  <c:v>beverages</c:v>
                </c:pt>
                <c:pt idx="3">
                  <c:v>frozen</c:v>
                </c:pt>
                <c:pt idx="4">
                  <c:v>pantry</c:v>
                </c:pt>
                <c:pt idx="5">
                  <c:v>household</c:v>
                </c:pt>
                <c:pt idx="6">
                  <c:v>dairy eggs</c:v>
                </c:pt>
                <c:pt idx="7">
                  <c:v>dry goods pasta</c:v>
                </c:pt>
                <c:pt idx="8">
                  <c:v>canned goods</c:v>
                </c:pt>
                <c:pt idx="9">
                  <c:v>deli</c:v>
                </c:pt>
                <c:pt idx="10">
                  <c:v>produce</c:v>
                </c:pt>
                <c:pt idx="11">
                  <c:v>bakery</c:v>
                </c:pt>
                <c:pt idx="12">
                  <c:v>breakfast</c:v>
                </c:pt>
                <c:pt idx="13">
                  <c:v>pets</c:v>
                </c:pt>
                <c:pt idx="14">
                  <c:v>alcohol</c:v>
                </c:pt>
                <c:pt idx="15">
                  <c:v>babies</c:v>
                </c:pt>
                <c:pt idx="16">
                  <c:v>international</c:v>
                </c:pt>
                <c:pt idx="17">
                  <c:v>missing</c:v>
                </c:pt>
                <c:pt idx="18">
                  <c:v>meat seafood</c:v>
                </c:pt>
                <c:pt idx="19">
                  <c:v>other</c:v>
                </c:pt>
                <c:pt idx="20">
                  <c:v>bulk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141</c:v>
                </c:pt>
                <c:pt idx="1">
                  <c:v>130</c:v>
                </c:pt>
                <c:pt idx="2">
                  <c:v>91</c:v>
                </c:pt>
                <c:pt idx="3">
                  <c:v>87</c:v>
                </c:pt>
                <c:pt idx="4">
                  <c:v>86</c:v>
                </c:pt>
                <c:pt idx="5">
                  <c:v>76</c:v>
                </c:pt>
                <c:pt idx="6">
                  <c:v>58</c:v>
                </c:pt>
                <c:pt idx="7">
                  <c:v>40</c:v>
                </c:pt>
                <c:pt idx="8">
                  <c:v>39</c:v>
                </c:pt>
                <c:pt idx="9">
                  <c:v>34</c:v>
                </c:pt>
                <c:pt idx="10">
                  <c:v>33</c:v>
                </c:pt>
                <c:pt idx="11">
                  <c:v>31</c:v>
                </c:pt>
                <c:pt idx="12">
                  <c:v>28</c:v>
                </c:pt>
                <c:pt idx="13">
                  <c:v>23</c:v>
                </c:pt>
                <c:pt idx="14">
                  <c:v>23</c:v>
                </c:pt>
                <c:pt idx="15">
                  <c:v>20</c:v>
                </c:pt>
                <c:pt idx="16">
                  <c:v>19</c:v>
                </c:pt>
                <c:pt idx="17">
                  <c:v>18</c:v>
                </c:pt>
                <c:pt idx="18">
                  <c:v>16</c:v>
                </c:pt>
                <c:pt idx="19">
                  <c:v>5</c:v>
                </c:pt>
                <c:pt idx="2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DD-4C79-A870-ADD2694B585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spPr>
            <a:solidFill>
              <a:srgbClr val="74C69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B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User 90</c:v>
                </c:pt>
                <c:pt idx="1">
                  <c:v>User 150</c:v>
                </c:pt>
                <c:pt idx="2">
                  <c:v>User 206</c:v>
                </c:pt>
                <c:pt idx="3">
                  <c:v>User 310</c:v>
                </c:pt>
                <c:pt idx="4">
                  <c:v>User 382</c:v>
                </c:pt>
                <c:pt idx="5">
                  <c:v>User 503</c:v>
                </c:pt>
                <c:pt idx="6">
                  <c:v>User 678</c:v>
                </c:pt>
                <c:pt idx="7">
                  <c:v>User 787</c:v>
                </c:pt>
                <c:pt idx="8">
                  <c:v>User 816</c:v>
                </c:pt>
                <c:pt idx="9">
                  <c:v>User 971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6</c:v>
                </c:pt>
                <c:pt idx="2">
                  <c:v>25</c:v>
                </c:pt>
                <c:pt idx="3">
                  <c:v>4</c:v>
                </c:pt>
                <c:pt idx="4">
                  <c:v>23</c:v>
                </c:pt>
                <c:pt idx="5">
                  <c:v>9</c:v>
                </c:pt>
                <c:pt idx="6">
                  <c:v>12</c:v>
                </c:pt>
                <c:pt idx="7">
                  <c:v>12</c:v>
                </c:pt>
                <c:pt idx="8">
                  <c:v>30</c:v>
                </c:pt>
                <c:pt idx="9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86-4AAE-A36C-99AE22DB09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 w="38100" cap="flat">
              <a:solidFill>
                <a:srgbClr val="F4A2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strRef>
              <c:f>Sheet1!$A$2:$A$24</c:f>
              <c:strCache>
                <c:ptCount val="23"/>
                <c:pt idx="0">
                  <c:v>0:00</c:v>
                </c:pt>
                <c:pt idx="1">
                  <c:v>2:00</c:v>
                </c:pt>
                <c:pt idx="2">
                  <c:v>3:00</c:v>
                </c:pt>
                <c:pt idx="3">
                  <c:v>4:00</c:v>
                </c:pt>
                <c:pt idx="4">
                  <c:v>5:00</c:v>
                </c:pt>
                <c:pt idx="5">
                  <c:v>6:00</c:v>
                </c:pt>
                <c:pt idx="6">
                  <c:v>7:00</c:v>
                </c:pt>
                <c:pt idx="7">
                  <c:v>8:00</c:v>
                </c:pt>
                <c:pt idx="8">
                  <c:v>9:00</c:v>
                </c:pt>
                <c:pt idx="9">
                  <c:v>10:00</c:v>
                </c:pt>
                <c:pt idx="10">
                  <c:v>11:00</c:v>
                </c:pt>
                <c:pt idx="11">
                  <c:v>12:00</c:v>
                </c:pt>
                <c:pt idx="12">
                  <c:v>13:00</c:v>
                </c:pt>
                <c:pt idx="13">
                  <c:v>14:00</c:v>
                </c:pt>
                <c:pt idx="14">
                  <c:v>15:00</c:v>
                </c:pt>
                <c:pt idx="15">
                  <c:v>16:00</c:v>
                </c:pt>
                <c:pt idx="16">
                  <c:v>17:00</c:v>
                </c:pt>
                <c:pt idx="17">
                  <c:v>18:00</c:v>
                </c:pt>
                <c:pt idx="18">
                  <c:v>19:00</c:v>
                </c:pt>
                <c:pt idx="19">
                  <c:v>20:00</c:v>
                </c:pt>
                <c:pt idx="20">
                  <c:v>21:00</c:v>
                </c:pt>
                <c:pt idx="21">
                  <c:v>22:00</c:v>
                </c:pt>
                <c:pt idx="22">
                  <c:v>23:00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12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  <c:pt idx="4">
                  <c:v>2</c:v>
                </c:pt>
                <c:pt idx="5">
                  <c:v>10</c:v>
                </c:pt>
                <c:pt idx="6">
                  <c:v>27</c:v>
                </c:pt>
                <c:pt idx="7">
                  <c:v>48</c:v>
                </c:pt>
                <c:pt idx="8">
                  <c:v>65</c:v>
                </c:pt>
                <c:pt idx="9">
                  <c:v>80</c:v>
                </c:pt>
                <c:pt idx="10">
                  <c:v>72</c:v>
                </c:pt>
                <c:pt idx="11">
                  <c:v>86</c:v>
                </c:pt>
                <c:pt idx="12">
                  <c:v>97</c:v>
                </c:pt>
                <c:pt idx="13">
                  <c:v>65</c:v>
                </c:pt>
                <c:pt idx="14">
                  <c:v>80</c:v>
                </c:pt>
                <c:pt idx="15">
                  <c:v>101</c:v>
                </c:pt>
                <c:pt idx="16">
                  <c:v>81</c:v>
                </c:pt>
                <c:pt idx="17">
                  <c:v>47</c:v>
                </c:pt>
                <c:pt idx="18">
                  <c:v>42</c:v>
                </c:pt>
                <c:pt idx="19">
                  <c:v>31</c:v>
                </c:pt>
                <c:pt idx="20">
                  <c:v>19</c:v>
                </c:pt>
                <c:pt idx="21">
                  <c:v>17</c:v>
                </c:pt>
                <c:pt idx="22">
                  <c:v>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874-4908-9DB4-22ED68787D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74C69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B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Day 0</c:v>
                </c:pt>
                <c:pt idx="1">
                  <c:v>Day 1</c:v>
                </c:pt>
                <c:pt idx="2">
                  <c:v>Day 2</c:v>
                </c:pt>
                <c:pt idx="3">
                  <c:v>Day 3</c:v>
                </c:pt>
                <c:pt idx="4">
                  <c:v>Day 4</c:v>
                </c:pt>
                <c:pt idx="5">
                  <c:v>Day 5</c:v>
                </c:pt>
                <c:pt idx="6">
                  <c:v>Day 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154</c:v>
                </c:pt>
                <c:pt idx="1">
                  <c:v>182</c:v>
                </c:pt>
                <c:pt idx="2">
                  <c:v>139</c:v>
                </c:pt>
                <c:pt idx="3">
                  <c:v>128</c:v>
                </c:pt>
                <c:pt idx="4">
                  <c:v>130</c:v>
                </c:pt>
                <c:pt idx="5">
                  <c:v>132</c:v>
                </c:pt>
                <c:pt idx="6">
                  <c:v>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ED-470B-A96F-DAF6F3B6F2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B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Sheet1!$A$2:$A$31</c:f>
              <c:strCach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19</c:v>
                </c:pt>
                <c:pt idx="18">
                  <c:v>20</c:v>
                </c:pt>
                <c:pt idx="19">
                  <c:v>21</c:v>
                </c:pt>
                <c:pt idx="20">
                  <c:v>23</c:v>
                </c:pt>
                <c:pt idx="21">
                  <c:v>25</c:v>
                </c:pt>
                <c:pt idx="22">
                  <c:v>28</c:v>
                </c:pt>
                <c:pt idx="23">
                  <c:v>29</c:v>
                </c:pt>
                <c:pt idx="24">
                  <c:v>30</c:v>
                </c:pt>
                <c:pt idx="25">
                  <c:v>31</c:v>
                </c:pt>
                <c:pt idx="26">
                  <c:v>33</c:v>
                </c:pt>
                <c:pt idx="27">
                  <c:v>34</c:v>
                </c:pt>
                <c:pt idx="28">
                  <c:v>36</c:v>
                </c:pt>
                <c:pt idx="29">
                  <c:v>49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3</c:v>
                </c:pt>
                <c:pt idx="1">
                  <c:v>6</c:v>
                </c:pt>
                <c:pt idx="2">
                  <c:v>7</c:v>
                </c:pt>
                <c:pt idx="3">
                  <c:v>14</c:v>
                </c:pt>
                <c:pt idx="4">
                  <c:v>7</c:v>
                </c:pt>
                <c:pt idx="5">
                  <c:v>7</c:v>
                </c:pt>
                <c:pt idx="6">
                  <c:v>3</c:v>
                </c:pt>
                <c:pt idx="7">
                  <c:v>13</c:v>
                </c:pt>
                <c:pt idx="8">
                  <c:v>4</c:v>
                </c:pt>
                <c:pt idx="9">
                  <c:v>2</c:v>
                </c:pt>
                <c:pt idx="10">
                  <c:v>4</c:v>
                </c:pt>
                <c:pt idx="11">
                  <c:v>2</c:v>
                </c:pt>
                <c:pt idx="12">
                  <c:v>1</c:v>
                </c:pt>
                <c:pt idx="13">
                  <c:v>1</c:v>
                </c:pt>
                <c:pt idx="14">
                  <c:v>2</c:v>
                </c:pt>
                <c:pt idx="15">
                  <c:v>1</c:v>
                </c:pt>
                <c:pt idx="16">
                  <c:v>6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2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86-47A2-843A-41ADD35E4A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Times Ordered</c:v>
                </c:pt>
              </c:strCache>
            </c:strRef>
          </c:tx>
          <c:spPr>
            <a:solidFill>
              <a:srgbClr val="74C69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B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Soda</c:v>
                </c:pt>
                <c:pt idx="1">
                  <c:v>All Natural Homestyle California Lemon Limeade</c:v>
                </c:pt>
                <c:pt idx="2">
                  <c:v>Cantaloupe</c:v>
                </c:pt>
                <c:pt idx="3">
                  <c:v>Garbanzo Beans</c:v>
                </c:pt>
                <c:pt idx="4">
                  <c:v>Honey Vanilla Greek Yogurt</c:v>
                </c:pt>
                <c:pt idx="5">
                  <c:v>Herb Thyme Clamshell</c:v>
                </c:pt>
                <c:pt idx="6">
                  <c:v>Organic Whole Grassmilk Milk</c:v>
                </c:pt>
                <c:pt idx="7">
                  <c:v>Organic Whole Wheat Elbows</c:v>
                </c:pt>
                <c:pt idx="8">
                  <c:v>Vanilla Almond Breeze Almond Milk</c:v>
                </c:pt>
                <c:pt idx="9">
                  <c:v>Xylitol Sweetener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74-455E-AF1B-8843936C89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Reorder Rate %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B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canned meals beans</c:v>
                </c:pt>
                <c:pt idx="1">
                  <c:v>fresh fruits</c:v>
                </c:pt>
                <c:pt idx="2">
                  <c:v>yogurt</c:v>
                </c:pt>
                <c:pt idx="3">
                  <c:v>fresh herbs</c:v>
                </c:pt>
                <c:pt idx="4">
                  <c:v>milk</c:v>
                </c:pt>
                <c:pt idx="5">
                  <c:v>soft drinks</c:v>
                </c:pt>
                <c:pt idx="6">
                  <c:v>soy lactosefree</c:v>
                </c:pt>
                <c:pt idx="7">
                  <c:v>baking ingredients</c:v>
                </c:pt>
                <c:pt idx="8">
                  <c:v>dry pasta</c:v>
                </c:pt>
                <c:pt idx="9">
                  <c:v>refrigerated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89-46EB-8E35-2B83ACD64A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Users</c:v>
                </c:pt>
              </c:strCache>
            </c:strRef>
          </c:tx>
          <c:spPr>
            <a:solidFill>
              <a:srgbClr val="74C69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B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dairy eggs</c:v>
                </c:pt>
                <c:pt idx="1">
                  <c:v>canned goods</c:v>
                </c:pt>
                <c:pt idx="2">
                  <c:v>produce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35-4293-8FCE-4FF5F7FC6C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Items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B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Day 0</c:v>
                </c:pt>
                <c:pt idx="1">
                  <c:v>Day 1</c:v>
                </c:pt>
                <c:pt idx="2">
                  <c:v>Day 2</c:v>
                </c:pt>
                <c:pt idx="3">
                  <c:v>Day 3</c:v>
                </c:pt>
                <c:pt idx="4">
                  <c:v>Day 4</c:v>
                </c:pt>
                <c:pt idx="5">
                  <c:v>Day 5</c:v>
                </c:pt>
                <c:pt idx="6">
                  <c:v>Day 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8</c:v>
                </c:pt>
                <c:pt idx="2">
                  <c:v>10.83</c:v>
                </c:pt>
                <c:pt idx="3">
                  <c:v>16</c:v>
                </c:pt>
                <c:pt idx="4">
                  <c:v>3</c:v>
                </c:pt>
                <c:pt idx="5">
                  <c:v>11.67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25-47E0-8BAE-77244B439F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 Placed</c:v>
                </c:pt>
              </c:strCache>
            </c:strRef>
          </c:tx>
          <c:spPr>
            <a:solidFill>
              <a:srgbClr val="74C69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B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User 310</c:v>
                </c:pt>
                <c:pt idx="1">
                  <c:v>User 7440</c:v>
                </c:pt>
                <c:pt idx="2">
                  <c:v>User 17155</c:v>
                </c:pt>
                <c:pt idx="3">
                  <c:v>User 20558</c:v>
                </c:pt>
                <c:pt idx="4">
                  <c:v>User 22274</c:v>
                </c:pt>
                <c:pt idx="5">
                  <c:v>User 38936</c:v>
                </c:pt>
                <c:pt idx="6">
                  <c:v>User 39460</c:v>
                </c:pt>
                <c:pt idx="7">
                  <c:v>User 48890</c:v>
                </c:pt>
                <c:pt idx="8">
                  <c:v>User 59106</c:v>
                </c:pt>
                <c:pt idx="9">
                  <c:v>User 60932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92</c:v>
                </c:pt>
                <c:pt idx="2">
                  <c:v>94</c:v>
                </c:pt>
                <c:pt idx="3">
                  <c:v>97</c:v>
                </c:pt>
                <c:pt idx="4">
                  <c:v>93</c:v>
                </c:pt>
                <c:pt idx="5">
                  <c:v>90</c:v>
                </c:pt>
                <c:pt idx="6">
                  <c:v>85</c:v>
                </c:pt>
                <c:pt idx="7">
                  <c:v>97</c:v>
                </c:pt>
                <c:pt idx="8">
                  <c:v>91</c:v>
                </c:pt>
                <c:pt idx="9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5A-41C8-A18B-596DD5A420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7876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CDACL-006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Basket Analysis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Ordering Behavior &amp; Product Performance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to optimize marketing strategy &amp; customer satisfaction</a:t>
            </a:r>
            <a:endParaRPr lang="en-US" sz="13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9BBF26-84C0-E8BC-4BE8-EFFAFDF0C74C}"/>
              </a:ext>
            </a:extLst>
          </p:cNvPr>
          <p:cNvSpPr txBox="1"/>
          <p:nvPr/>
        </p:nvSpPr>
        <p:spPr>
          <a:xfrm>
            <a:off x="691009" y="4069080"/>
            <a:ext cx="2783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Submitted by: </a:t>
            </a:r>
            <a:r>
              <a:rPr lang="en-US" dirty="0" err="1"/>
              <a:t>Vishanth</a:t>
            </a:r>
            <a:r>
              <a:rPr lang="en-US" dirty="0"/>
              <a:t> M S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1F7F3"/>
          </a:solidFill>
          <a:ln w="12700">
            <a:solidFill>
              <a:srgbClr val="E3EC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92024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ordering behavior and product performance across a 5-table order dataset (orders, order line items, products, aisles, departments) to guide marketing strategy and improve customer satisfaction.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1F7F3"/>
          </a:solidFill>
          <a:ln w="12700">
            <a:solidFill>
              <a:srgbClr val="E3EC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52044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business questions spanning catalog structure, ordering cadence, peak-time patterns, reorder behavior, and top performers by product / aisle / department / user.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1F7F3"/>
          </a:solidFill>
          <a:ln w="12700">
            <a:solidFill>
              <a:srgbClr val="E3EC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12064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were merged on their stated primary keys (aisle_id, department_id, product_id, order_id) using Python/pandas, then aggregated to answer each business question.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Methodology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F1F7F3"/>
          </a:solidFill>
          <a:ln w="12700">
            <a:solidFill>
              <a:srgbClr val="E3EC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00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Used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orders (1,000 rows)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0720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 line items (1,000 rows)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65576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products (1,000 rows)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123944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aisles (134 rows)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782312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departments (21 rows)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60520" y="141732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F1F7F3"/>
          </a:solidFill>
          <a:ln w="12700">
            <a:solidFill>
              <a:srgbClr val="E3EC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89120" y="1600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Keys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1488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order_id → orders ↔ order line items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280720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product_id → line items ↔ products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3465576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aisle_id → products ↔ aisles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4123944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department_id → products ↔ departments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0" y="141732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FDEEE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01000" y="1600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001000" y="21488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 line items map to only ~30 of the 1,000 orders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2807208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Questions needing both tables jointly (users/dept, order-size by weekday) are reported on that matched 30-order sample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001000" y="3465576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other questions use the full available table(s)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 Structure: Top Aisles by Product Count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371600"/>
          <a:ext cx="110642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Vitamins &amp; Supplements leads with the most distinct SKUs, followed by Candy/Chocolate and Tea — signalling where catalog depth (and shelf-space investment) is greatest.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Landscape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1B43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Departments (Q2)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0" y="1371600"/>
          <a:ext cx="79552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Personal Care and Snacks carry the broadest product ranges, ahead of Beverages, Frozen, and Pantry.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Catalog Depth Concentrates (Aisle × Department)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663439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vitamins supplements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beverages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candy chocolate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 meals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chips pretzels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granola bars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dairy eggs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yogurt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 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 cream 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hair care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Q20: Vitamins/Supplements (Personal Care) and Tea / Candy-Chocolate (Beverages &amp; Snacks) are the deepest single aisle-department combinations.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Base &amp; Ordering Cadence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1F7F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986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 who placed orders (Q5)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14630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4A2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14800" y="164592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11.19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697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days between repeat orders, per customer (Q6)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80960" y="14630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1F7F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0" y="164592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10.31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7955280" y="26974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products per order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of per-customer reorder gaps (days since prior order):</a:t>
            </a:r>
            <a:endParaRPr lang="en-US" sz="13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548640" y="4297680"/>
          <a:ext cx="110642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Ordering Hours (Q7 / Q15)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417320"/>
          <a:ext cx="110642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Q7/Q15: Ordering climbs steadily through the morning and peaks around 16:00, in the mid-afternoon — the best window for time-sensitive promotions and staffing.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Volume by Day of Week (Q8)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417320"/>
          <a:ext cx="110642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Q8: The dataset labels days 0–6 without naming weekdays; order volume is highest on Day 1 and lowest on Day 3, a roughly 30% swing worth matching with staffing and promo timing.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Size Profile (Q11 / Q14 / Q16)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1B43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10.31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products per order (Q11)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3291840" cy="1554480"/>
          </a:xfrm>
          <a:prstGeom prst="roundRect">
            <a:avLst>
              <a:gd name="adj" fmla="val 5882"/>
            </a:avLst>
          </a:prstGeom>
          <a:solidFill>
            <a:srgbClr val="F1F7F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2004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10.31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86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cart-add position per order (Q14)</a:t>
            </a:r>
            <a:endParaRPr lang="en-US" sz="11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114800" y="1417320"/>
          <a:ext cx="74980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Q16: Order sizes are fairly spread out, with a notable cluster of 4- and 8-item orders — useful for basket-building bundle offers.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Frequently Ordered Products (Q9)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371600"/>
          <a:ext cx="110642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Q9: With only ~97 order line items in the provided sample, most products appear once; Soda is the only repeat item. A full table extract would sharpen this ranking meaningfully.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Reorder-Rate Products (Q4)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772400" cy="109728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 Ordered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Reorder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92608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FDEEE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31089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 result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52044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products ordered at least twice in the sample qualify for a reorder-rate calculation. Soda is the sole product meeting that bar in this ~97-row extract, with a 100% reorder rate. This question needs a larger order-line extract to produce a statistically meaningful Top 10.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Reorder Behavior: Products &amp; Aisles (Q13 / Q17)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B43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reordered more than once in the sample (Q13)</a:t>
            </a:r>
            <a:endParaRPr lang="en-US" sz="11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023360" y="1417320"/>
          <a:ext cx="758952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Q17: Several aisles — Canned Meals/Beans, Fresh Fruits, Yogurt, Fresh Herbs, Milk, Soft Drinks — show a 100% reorder rate on the (small) sample, consistent with staple, replenishment-driven categories.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Reordered Product, by Department (Q12)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48056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 Reordered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beverages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canned goods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Garbanzo Beans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dairy eggs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Honey Vanilla Greek Yogurt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Cantaloupe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 goods pasta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Whole Wheat Elbows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Xylitol Sweetener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Q12: Soda (Beverages) is the clearest repeat-purchase leader; several departments show 0-1 reorders given the sample size.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Reached, by Department (Q10)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417320"/>
          <a:ext cx="110642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Q10: Based on the 30-order matched sample (the only orders with linked line-item data), Dairy &amp; Eggs reached the most distinct customers. A full-table extract would extend this across the entire customer base.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Order Size by Day of Week (Q18)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417320"/>
          <a:ext cx="110642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Q18: On the 30-order matched sample, Day 3 shows the largest average basket (16 items) and Day 4 the smallest (3 items) — directional only given the small n.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Loyal Customers by Order Count (Q19)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417320"/>
          <a:ext cx="110642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Q19: The top 10 customers have each placed 85–100 orders — strong candidates for a loyalty or VIP retention program.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Marketing 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3990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promotions to the afternoon peak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76479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peaks around 16:00 and dips overnight — schedule flash promos and push notifications for the late-morning/early-afternoon window.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50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8658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around staple, high-reorder categories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75234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&amp; Eggs, Beverages, and produce-adjacent aisles show the highest reorder rates — ideal anchors for subscribe-and-save or basket-bundle offers.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438144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438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37413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loyalty tier for top-order customers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73989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of customers places 85–100 orders each — a targeted VIP or loyalty-points program could deepen an already-strong relationship.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425696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425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361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catalog depth where it already works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72744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Vitamins/Supplements, Candy/Chocolate, and Tea carry the most SKUs — confirm this matches demand, and consider expanding under-represented but high-reorder aisles.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413248"/>
            <a:ext cx="365760" cy="36576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413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349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reorder and top-product analyses on the full table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5715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97-row order-line sample makes Q4/Q9/Q12 directional, not final — a full extract will sharpen the actual Top 10 rankings.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Limitations &amp; Next Steps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20624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Next Step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table capped at ~1,000 rows, taken independently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 matching row ranges (or full tables) so orders and order-line items reference the same order_ids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Order-line data covers only ~30 of 1,000 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Re-extract the order-line table filtered to the full order_id set, or increase the row limit substantially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Day-of-week codes (0–6) aren't labelled to actual weekdays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the day-code mapping with the data source before finalizing scheduling recommendations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Top-N rankings (Q4, Q9, Q12) are dominated by ties at n=1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Re-run rankings once a larger, fully-linked order-line extract is available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CDACL-006 — Market Basket Analysis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1276</Words>
  <Application>Microsoft Office PowerPoint</Application>
  <PresentationFormat>Widescreen</PresentationFormat>
  <Paragraphs>197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vishanth21092005@outlook.com</cp:lastModifiedBy>
  <cp:revision>2</cp:revision>
  <dcterms:created xsi:type="dcterms:W3CDTF">2026-09-12T12:16:51Z</dcterms:created>
  <dcterms:modified xsi:type="dcterms:W3CDTF">2026-09-14T08:46:09Z</dcterms:modified>
</cp:coreProperties>
</file>